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-457200"/>
            <a:ext cx="5486400" cy="8229600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0" y="-274320"/>
            <a:ext cx="5486400" cy="8229600"/>
          </a:xfrm>
          <a:prstGeom prst="rect">
            <a:avLst/>
          </a:prstGeom>
          <a:solidFill>
            <a:srgbClr val="53D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0" y="0"/>
            <a:ext cx="5486400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2011680"/>
            <a:ext cx="50800" cy="2834640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CC97FF"/>
                </a:solidFill>
              </a:rPr>
              <a:t>TEC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The Echo Community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An invite-only platform for students — Feed · Marketplace · Map · Pulse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886200"/>
            <a:ext cx="4114800" cy="19050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023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AAAA"/>
                </a:solidFill>
              </a:rPr>
              <a:t>Project Presentation  |  April 2026</a:t>
            </a:r>
          </a:p>
        </p:txBody>
      </p:sp>
      <p:sp>
        <p:nvSpPr>
          <p:cNvPr id="12" name="Oval 11"/>
          <p:cNvSpPr/>
          <p:nvPr/>
        </p:nvSpPr>
        <p:spPr>
          <a:xfrm>
            <a:off x="7498079" y="2560320"/>
            <a:ext cx="2011680" cy="411480"/>
          </a:xfrm>
          <a:prstGeom prst="ellipse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25786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</a:rPr>
              <a:t>React 18</a:t>
            </a:r>
          </a:p>
        </p:txBody>
      </p:sp>
      <p:sp>
        <p:nvSpPr>
          <p:cNvPr id="14" name="Oval 13"/>
          <p:cNvSpPr/>
          <p:nvPr/>
        </p:nvSpPr>
        <p:spPr>
          <a:xfrm>
            <a:off x="7498079" y="3246120"/>
            <a:ext cx="2011680" cy="411480"/>
          </a:xfrm>
          <a:prstGeom prst="ellipse">
            <a:avLst/>
          </a:prstGeom>
          <a:solidFill>
            <a:srgbClr val="53D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32644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</a:rPr>
              <a:t>Supabase</a:t>
            </a:r>
          </a:p>
        </p:txBody>
      </p:sp>
      <p:sp>
        <p:nvSpPr>
          <p:cNvPr id="16" name="Oval 15"/>
          <p:cNvSpPr/>
          <p:nvPr/>
        </p:nvSpPr>
        <p:spPr>
          <a:xfrm>
            <a:off x="7498079" y="3931920"/>
            <a:ext cx="20116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39502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</a:rPr>
              <a:t>Vercel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C97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</a:rPr>
              <a:t>The gap TEC was built to fill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097280" cy="38100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2606040" cy="196596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43560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97FF"/>
                </a:solidFill>
              </a:rPr>
              <a:t>No Unified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801368"/>
            <a:ext cx="2331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Student info scattered across WhatsApp groups, notice boards, Google Docs
  ›  No single trusted source for deals, PGs, events, or assignments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2606040" cy="196596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43560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3DDFC"/>
                </a:solidFill>
              </a:rPr>
              <a:t>Zero Community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801368"/>
            <a:ext cx="2331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No way to verify who is actually a student
  ›  No persistent profile, role, or achievement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429000"/>
            <a:ext cx="2606040" cy="196596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353872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E84"/>
                </a:solidFill>
              </a:rPr>
              <a:t>No Issue Accountability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904488"/>
            <a:ext cx="2331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Campus problems raised on social media disappear with no tracking
  ›  No formal channel for students to escalate and monitor resolution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429000"/>
            <a:ext cx="2606040" cy="196596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53872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Fragmented Marketplace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904488"/>
            <a:ext cx="2331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Buy/sell happens over Insta DMs with zero moderation
  ›  No approval workflow, no trust signal, no structured listing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325880"/>
            <a:ext cx="5486400" cy="19202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14356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97FF"/>
                </a:solidFill>
              </a:rPr>
              <a:t>No Unified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180136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Student info scattered across WhatsApp groups, notice boards, Google Docs
  ›  No single trusted source for deals, PGs, events, or assignments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0216" y="1325880"/>
            <a:ext cx="5486400" cy="19202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14356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3DDFC"/>
                </a:solidFill>
              </a:rPr>
              <a:t>Zero Community Identity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180136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No way to verify who is actually a student
  ›  No persistent profile, role, or achievement system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429000"/>
            <a:ext cx="5486400" cy="19202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35387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E84"/>
                </a:solidFill>
              </a:rPr>
              <a:t>No Issue Accountability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390448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Campus problems raised on social media disappear with no tracking
  ›  No formal channel for students to escalate and monitor resolution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0216" y="3429000"/>
            <a:ext cx="5486400" cy="19202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5387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Fragmented Marketplace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390448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Buy/sell happens over Insta DMs with zero moderation
  ›  No approval workflow, no trust signal, no structured listing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C97FF"/>
                </a:solidFill>
              </a:rPr>
              <a:t>Solution — TEC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</a:rPr>
              <a:t>One invite-only app for everything student life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097280" cy="38100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2743200" cy="12344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50800" cy="1234440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417320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97FF"/>
                </a:solidFill>
              </a:rPr>
              <a:t>Feed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1801368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Real-time posts, votes, threaded replies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9272" y="1325880"/>
            <a:ext cx="2743200" cy="12344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9272" y="1325880"/>
            <a:ext cx="50800" cy="1234440"/>
          </a:xfrm>
          <a:prstGeom prst="rect">
            <a:avLst/>
          </a:prstGeom>
          <a:solidFill>
            <a:srgbClr val="53D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417320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3DDFC"/>
                </a:solidFill>
              </a:rPr>
              <a:t>Bazaar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801368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Moderated student marketplace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7064" y="1325880"/>
            <a:ext cx="2743200" cy="12344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7064" y="1325880"/>
            <a:ext cx="50800" cy="1234440"/>
          </a:xfrm>
          <a:prstGeom prst="rect">
            <a:avLst/>
          </a:prstGeom>
          <a:solidFill>
            <a:srgbClr val="FF6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1417320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E84"/>
                </a:solidFill>
              </a:rPr>
              <a:t>Pulse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1801368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Campus issue tracker with status updates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34856" y="1325880"/>
            <a:ext cx="2743200" cy="12344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34856" y="1325880"/>
            <a:ext cx="50800" cy="1234440"/>
          </a:xfrm>
          <a:prstGeom prst="rect">
            <a:avLst/>
          </a:prstGeom>
          <a:solidFill>
            <a:srgbClr val="7B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4584" y="1417320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FFD4"/>
                </a:solidFill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1801368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Interactive MapLibre campus map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724912"/>
            <a:ext cx="2743200" cy="12344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2724912"/>
            <a:ext cx="50800" cy="1234440"/>
          </a:xfrm>
          <a:prstGeom prst="rect">
            <a:avLst/>
          </a:prstGeom>
          <a:solidFill>
            <a:srgbClr val="FFC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2816352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46B"/>
                </a:solidFill>
              </a:rPr>
              <a:t>Deals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" y="320040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Curated vendor discounts with promo codes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9272" y="2724912"/>
            <a:ext cx="2743200" cy="12344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19272" y="2724912"/>
            <a:ext cx="50800" cy="1234440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2816352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97FF"/>
                </a:solidFill>
              </a:rPr>
              <a:t>Events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20040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Calendar events + Add-to-Calendar export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7064" y="2724912"/>
            <a:ext cx="2743200" cy="12344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27064" y="2724912"/>
            <a:ext cx="50800" cy="1234440"/>
          </a:xfrm>
          <a:prstGeom prst="rect">
            <a:avLst/>
          </a:prstGeom>
          <a:solidFill>
            <a:srgbClr val="53D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2816352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3DDFC"/>
                </a:solidFill>
              </a:rPr>
              <a:t>Directory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320040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PGs, restaurants, hangout spots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34856" y="2724912"/>
            <a:ext cx="2743200" cy="12344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34856" y="2724912"/>
            <a:ext cx="50800" cy="1234440"/>
          </a:xfrm>
          <a:prstGeom prst="rect">
            <a:avLst/>
          </a:prstGeom>
          <a:solidFill>
            <a:srgbClr val="FF6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44584" y="2816352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E84"/>
                </a:solidFill>
              </a:rPr>
              <a:t>Builds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44584" y="320040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Student project showcase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C97FF"/>
                </a:solidFill>
              </a:rPr>
              <a:t>Architecture &amp;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</a:rPr>
              <a:t>Modern full-stack SPA with serverless 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097280" cy="38100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5577840" cy="51206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97FF"/>
                </a:solidFill>
              </a:rPr>
              <a:t>Presentation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463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React 18 · Vite 5 · Framer Motion · Recharts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874520"/>
            <a:ext cx="5212080" cy="9525"/>
          </a:xfrm>
          <a:prstGeom prst="rect">
            <a:avLst/>
          </a:prstGeom>
          <a:solidFill>
            <a:srgbClr val="2A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214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97FF"/>
                </a:solidFill>
              </a:rPr>
              <a:t>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214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React Router v7  (client-side SPA)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532888"/>
            <a:ext cx="5212080" cy="9525"/>
          </a:xfrm>
          <a:prstGeom prst="rect">
            <a:avLst/>
          </a:prstGeom>
          <a:solidFill>
            <a:srgbClr val="2A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797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97FF"/>
                </a:solidFill>
              </a:rPr>
              <a:t>State / 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7797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AuthContext · sessionStorage fast-restore · Supabase Auth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191256"/>
            <a:ext cx="5212080" cy="9525"/>
          </a:xfrm>
          <a:prstGeom prst="rect">
            <a:avLst/>
          </a:prstGeom>
          <a:solidFill>
            <a:srgbClr val="2A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381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97FF"/>
                </a:solidFill>
              </a:rPr>
              <a:t>Backend /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4381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Supabase · PostgreSQL · Row Level Security (RLS)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849624"/>
            <a:ext cx="5212080" cy="9525"/>
          </a:xfrm>
          <a:prstGeom prst="rect">
            <a:avLst/>
          </a:prstGeom>
          <a:solidFill>
            <a:srgbClr val="2A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096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97FF"/>
                </a:solidFill>
              </a:rPr>
              <a:t>Realtime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0965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Supabase WebSocket channels  (feed + presence)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507992"/>
            <a:ext cx="5212080" cy="9525"/>
          </a:xfrm>
          <a:prstGeom prst="rect">
            <a:avLst/>
          </a:prstGeom>
          <a:solidFill>
            <a:srgbClr val="2A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97FF"/>
                </a:solidFill>
              </a:rPr>
              <a:t>Maps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754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MapLibre GL  (CDN)  +  GeoJSON zones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166360"/>
            <a:ext cx="5212080" cy="9525"/>
          </a:xfrm>
          <a:prstGeom prst="rect">
            <a:avLst/>
          </a:prstGeom>
          <a:solidFill>
            <a:srgbClr val="2A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97FF"/>
                </a:solidFill>
              </a:rPr>
              <a:t>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4132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Vercel  —  SPA catch-all rewrite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9632" y="1298448"/>
            <a:ext cx="5577840" cy="51206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1444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3DDFC"/>
                </a:solidFill>
              </a:rPr>
              <a:t>Development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18745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Agile / Iterative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2377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Features delivered in incremental sprints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2761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Progressive security hardening via SQL patch files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31455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Separate patch files per sprint milestone: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35295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  supabase-patch.sql  →  core schema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39136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  supabase-patch-registration.sql  →  auth sprint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42976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  supabase-patch-security.sql  →  hardening sprint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46817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Continuous deployment via Vercel git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E84"/>
                </a:solidFill>
              </a:rPr>
              <a:t>Security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</a:rPr>
              <a:t>Defence-in-depth at every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097280" cy="38100"/>
          </a:xfrm>
          <a:prstGeom prst="rect">
            <a:avLst/>
          </a:prstGeom>
          <a:solidFill>
            <a:srgbClr val="FF6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5486400" cy="224028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4356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E84"/>
                </a:solidFill>
              </a:rPr>
              <a:t>Invite-Only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801368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Single-use referral codes generated by admins
  ›  Codes cryptographically consumed on registration
  ›  No open signup — zero spam accounts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0216" y="1325880"/>
            <a:ext cx="5486400" cy="224028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4356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97FF"/>
                </a:solidFill>
              </a:rPr>
              <a:t>Row Level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1801368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RLS enabled on every Supabase table
  ›  Policies enforced at DB level — bypass-proof
  ›  get_my_role() SECURITY DEFINER prevents spoofing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703320"/>
            <a:ext cx="5486400" cy="224028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38130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3DDFC"/>
                </a:solidFill>
              </a:rPr>
              <a:t>Role Hierarchy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4178808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admin → moderator → builder → student
  ›  DB trigger blocks role escalation by non-admins
  ›  ProtectedRoute + 403 screen for insufficient role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216" y="3703320"/>
            <a:ext cx="5486400" cy="224028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38130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FFD4"/>
                </a:solidFill>
              </a:rPr>
              <a:t>Zero-Flash 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4178808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sessionStorage fast-restore (synchronous)
  ›  Background DB role re-validation after render
  ›  Stale role in cache corrected silently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C97FF"/>
                </a:solidFill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</a:rPr>
              <a:t>Real-time Feed &amp; Community Pulse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097280" cy="38100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5486400" cy="51206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44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C97FF"/>
                </a:solidFill>
              </a:rPr>
              <a:t>Community 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›  Real-time WebSocket subscription (INSERT / UPDATE / DELETE)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3230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›  Anonymous posting toggle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443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›  Upvoting via cast_post_vote RPC  (optimistic UI + XP popup)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5643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›  Threaded replies  —  also real-time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9684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›  Admin can delete any post; users delete their 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80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›  Role-coloured badges  (admin=red, builder=purple, mod=pink)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9262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›  Promo card sidebar from live DB  (deals, listings, top issue)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0468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›  Realtime connection status indicator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1298448"/>
            <a:ext cx="5577840" cy="51206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444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E84"/>
                </a:solidFill>
              </a:rPr>
              <a:t>Pulse Issue Tracker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192024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›  Students raise campus issues (area + category)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57860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›  Community upvoting surfaces priority issues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23697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›  Status lifecycle: Submitted → In Review → Forwarded → Resolved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89534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›  Filter by area (Pondha, Bidholi…) and 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55371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›  Sort by votes or 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52120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›  Static polls section for quick community opinions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C97FF"/>
                </a:solidFill>
              </a:rPr>
              <a:t>Admin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</a:rPr>
              <a:t>Full control dashboard — 7 management tabs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097280" cy="38100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5349240" cy="621792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98448"/>
            <a:ext cx="50800" cy="621792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3533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97FF"/>
                </a:solidFill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1353312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Live counts: members, posts, listings, issues, deals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298448"/>
            <a:ext cx="5349240" cy="621792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98448"/>
            <a:ext cx="50800" cy="621792"/>
          </a:xfrm>
          <a:prstGeom prst="rect">
            <a:avLst/>
          </a:prstGeom>
          <a:solidFill>
            <a:srgbClr val="53D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3533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3DDFC"/>
                </a:solidFill>
              </a:rPr>
              <a:t>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1353312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Search, filter, edit roles, view certs, status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029968"/>
            <a:ext cx="5349240" cy="621792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029968"/>
            <a:ext cx="50800" cy="621792"/>
          </a:xfrm>
          <a:prstGeom prst="rect">
            <a:avLst/>
          </a:prstGeom>
          <a:solidFill>
            <a:srgbClr val="7B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0848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FFD4"/>
                </a:solidFill>
              </a:rPr>
              <a:t>Referrals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5688" y="2084832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Generate &amp; manage single-use invite codes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029968"/>
            <a:ext cx="5349240" cy="621792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029968"/>
            <a:ext cx="50800" cy="621792"/>
          </a:xfrm>
          <a:prstGeom prst="rect">
            <a:avLst/>
          </a:prstGeom>
          <a:solidFill>
            <a:srgbClr val="FFC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20848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46B"/>
                </a:solidFill>
              </a:rPr>
              <a:t>Marketplace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8" y="2084832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Approve / reject pending student listings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761488"/>
            <a:ext cx="5349240" cy="621792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2761488"/>
            <a:ext cx="50800" cy="621792"/>
          </a:xfrm>
          <a:prstGeom prst="rect">
            <a:avLst/>
          </a:prstGeom>
          <a:solidFill>
            <a:srgbClr val="FF6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28163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E84"/>
                </a:solidFill>
              </a:rPr>
              <a:t>Deals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5688" y="2816352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Full CRUD for vendor discounts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2761488"/>
            <a:ext cx="5349240" cy="621792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2761488"/>
            <a:ext cx="50800" cy="621792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28163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97FF"/>
                </a:solidFill>
              </a:rPr>
              <a:t>Listings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9288" y="2816352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Full CRUD for campus directory entries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493008"/>
            <a:ext cx="11365992" cy="621792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3493008"/>
            <a:ext cx="50800" cy="621792"/>
          </a:xfrm>
          <a:prstGeom prst="rect">
            <a:avLst/>
          </a:prstGeom>
          <a:solidFill>
            <a:srgbClr val="53D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" y="35478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3DDFC"/>
                </a:solidFill>
              </a:rPr>
              <a:t>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75688" y="3547872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Recharts bar charts + Realtime Presence online panel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C97FF"/>
                </a:solidFill>
              </a:rPr>
              <a:t>Database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</a:rPr>
              <a:t>PostgreSQL via Supabase — RLS on every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097280" cy="38100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6858000" cy="51206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8988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97FF"/>
                </a:solidFill>
              </a:rPr>
              <a:t>Tables (10 + views + join tables)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1051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DDFC"/>
                </a:solidFill>
              </a:rPr>
              <a:t>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81051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Core member record — role, SAP ID, certs, TEC-XXXX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942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DDFC"/>
                </a:solidFill>
              </a:rPr>
              <a:t>referral_codes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24942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Invite codes — single-use, tracks who consumed 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DDFC"/>
                </a:solidFill>
              </a:rPr>
              <a:t>feed_posts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68833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Community posts — votes, anon flag, reply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2724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DDFC"/>
                </a:solidFill>
              </a:rPr>
              <a:t>post_replies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127248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Threaded replies — real-time via Supabase channel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661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DDFC"/>
                </a:solidFill>
              </a:rPr>
              <a:t>pulse_issues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56616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Campus issues — area, category, status lifecycle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00507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DDFC"/>
                </a:solidFill>
              </a:rPr>
              <a:t>marketplace_listings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400507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Student buy/sell — approval workflow (NULL/true/false)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4398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DDFC"/>
                </a:solidFill>
              </a:rPr>
              <a:t>deals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44398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Admin-curated vendor discounts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8289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DDFC"/>
                </a:solidFill>
              </a:rPr>
              <a:t>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88289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Calendar events with Add-to-Calendar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180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DDFC"/>
                </a:solidFill>
              </a:rPr>
              <a:t>builds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5321808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Student project showcase with vote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7607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DDFC"/>
                </a:solidFill>
              </a:rPr>
              <a:t>hostel_beds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57607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Bed-level hostel map — available/occupied/maintenance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1298448"/>
            <a:ext cx="4370832" cy="51206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138988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97FF"/>
                </a:solidFill>
              </a:rPr>
              <a:t>Key Functions &amp; Triggers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1874519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complete_registration()  — atomic member insert + referral consume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2532887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cast_post_vote()          — toggle vote with dedup 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3191255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get_my_role()             — SECURITY DEFINER for RLS policies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849623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protect_member_columns()  — trigger blocks role escalation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C97FF"/>
                </a:solidFill>
              </a:rPr>
              <a:t>Unique Selling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</a:rPr>
              <a:t>What makes TEC different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097280" cy="38100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3657600" cy="16916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3657600" cy="38100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97FF"/>
                </a:solidFill>
              </a:rPr>
              <a:t>Invite-Only with Referral Codes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56232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No open signups. Admins generate single-use cryptographic codes. Membership feels earned — keeps the community quality high.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536" y="1325880"/>
            <a:ext cx="3657600" cy="16916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8536" y="1325880"/>
            <a:ext cx="3657600" cy="38100"/>
          </a:xfrm>
          <a:prstGeom prst="rect">
            <a:avLst/>
          </a:prstGeom>
          <a:solidFill>
            <a:srgbClr val="53D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146304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3DDFC"/>
                </a:solidFill>
              </a:rPr>
              <a:t>Real-Time Everything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856232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Feed posts, votes, and replies update live via WebSocket. No polling, no refresh. Presence tracking shows who's online right now.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65592" y="1325880"/>
            <a:ext cx="3657600" cy="16916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65592" y="1325880"/>
            <a:ext cx="3657600" cy="38100"/>
          </a:xfrm>
          <a:prstGeom prst="rect">
            <a:avLst/>
          </a:prstGeom>
          <a:solidFill>
            <a:srgbClr val="FF6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46304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E84"/>
                </a:solidFill>
              </a:rPr>
              <a:t>DB-Level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856232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RLS policies and DB triggers enforce roles. Even a raw Supabase API call from a student cannot bypass admin-only rules.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236976"/>
            <a:ext cx="3657600" cy="16916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236976"/>
            <a:ext cx="3657600" cy="38100"/>
          </a:xfrm>
          <a:prstGeom prst="rect">
            <a:avLst/>
          </a:prstGeom>
          <a:solidFill>
            <a:srgbClr val="7B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37413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FFD4"/>
                </a:solidFill>
              </a:rPr>
              <a:t>Zero-Flash 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67328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Session restored synchronously from sessionStorage before first render. Background DB role re-validation corrects stale cache silently.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88536" y="3236976"/>
            <a:ext cx="3657600" cy="16916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88536" y="3236976"/>
            <a:ext cx="3657600" cy="38100"/>
          </a:xfrm>
          <a:prstGeom prst="rect">
            <a:avLst/>
          </a:prstGeom>
          <a:solidFill>
            <a:srgbClr val="FFC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25696" y="337413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46B"/>
                </a:solidFill>
              </a:rPr>
              <a:t>Fully Self-Contained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3767328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Feed, Marketplace, Deals, Events, Campus Map, Issue Tracker, and Member Portal — one app, zero third-party community tools.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65592" y="3236976"/>
            <a:ext cx="3657600" cy="16916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65592" y="3236976"/>
            <a:ext cx="3657600" cy="38100"/>
          </a:xfrm>
          <a:prstGeom prst="rect">
            <a:avLst/>
          </a:prstGeom>
          <a:solidFill>
            <a:srgbClr val="FF6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337413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E84"/>
                </a:solidFill>
              </a:rPr>
              <a:t>Issue Accountability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3767328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Pulse tracks campus problems from submission through to resolution. Every issue has a status, category, and community vote count.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C97FF"/>
                </a:solidFill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</a:rPr>
              <a:t>What comes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097280" cy="38100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3749039" cy="507492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3749039" cy="38100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97FF"/>
                </a:solidFill>
              </a:rPr>
              <a:t>In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96596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›  Hostel Management — wire bed-level map to live Supabase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74320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›  Builds showcase — connect DB + submit/vote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35204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›  Static Pulse polls — persist votes to 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325880"/>
            <a:ext cx="3749039" cy="507492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325880"/>
            <a:ext cx="3749039" cy="38100"/>
          </a:xfrm>
          <a:prstGeom prst="rect">
            <a:avLst/>
          </a:prstGeom>
          <a:solidFill>
            <a:srgbClr val="53D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3DDFC"/>
                </a:solidFill>
              </a:rPr>
              <a:t>Short 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196596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›  Push notifications via Supabase Edge Functions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74320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›  File uploads for marketplace listings (Supabase Storage)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5204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›  PWA support — installable on mobile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1325880"/>
            <a:ext cx="3749039" cy="507492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1325880"/>
            <a:ext cx="3749039" cy="38100"/>
          </a:xfrm>
          <a:prstGeom prst="rect">
            <a:avLst/>
          </a:prstGeom>
          <a:solidFill>
            <a:srgbClr val="FFC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46B"/>
                </a:solidFill>
              </a:rPr>
              <a:t>Long Term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2" y="196596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›  Native mobile app (React Native)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274320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›  Institution partnership portal for official event listings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2" y="35204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›  AI feed moderation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429768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›  Analytics dashboard for institution admins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-457200"/>
            <a:ext cx="4572000" cy="7772400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52560" y="-457200"/>
            <a:ext cx="4572000" cy="7772400"/>
          </a:xfrm>
          <a:prstGeom prst="rect">
            <a:avLst/>
          </a:prstGeom>
          <a:solidFill>
            <a:srgbClr val="53D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0"/>
            <a:ext cx="4572000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CC97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918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The Echo Community  —  Built for students, by students.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3DDFC"/>
                </a:solidFill>
              </a:rPr>
              <a:t>tec-beta.vercel.app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794760"/>
            <a:ext cx="3657600" cy="19050"/>
          </a:xfrm>
          <a:prstGeom prst="rect">
            <a:avLst/>
          </a:prstGeom>
          <a:solidFill>
            <a:srgbClr val="C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